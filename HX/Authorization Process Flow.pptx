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600" b="1">
                <a:solidFill>
                  <a:srgbClr val="1E3A5F"/>
                </a:solidFill>
                <a:latin typeface="Calibri"/>
              </a:rPr>
              <a:t>Authorization 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200" b="0">
                <a:solidFill>
                  <a:srgbClr val="111111"/>
                </a:solidFill>
                <a:latin typeface="Calibri"/>
              </a:rPr>
              <a:t>KE A350 certifier authorization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11111"/>
                </a:solidFill>
                <a:latin typeface="Calibri"/>
              </a:rPr>
              <a:t>General Flow — 12-step presentation swimlane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Lanes:  Customer (KE)    ·    HX Account    ·    HX LMOC    ·    HX QA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Decisions:  KE QA accept?    ·    Training verified?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Source:  Authorization Process Flow.xlsx  ·  sheet General Flow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Not the detailed 22-step KE chart — use that page for working status.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09728"/>
            <a:ext cx="8595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>
                <a:solidFill>
                  <a:srgbClr val="1E3A5F"/>
                </a:solidFill>
                <a:latin typeface="Calibri"/>
              </a:rPr>
              <a:t>Authorization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457200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KE A350 — General Flow, steps 1 to 7 · Requirement to customer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146304"/>
            <a:ext cx="3063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Presentation swimlane · 12-step version</a:t>
            </a:r>
          </a:p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444444"/>
                </a:solidFill>
                <a:latin typeface="Calibri"/>
              </a:rPr>
              <a:t>Slide 1 of 2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841248"/>
            <a:ext cx="11825935" cy="5650992"/>
          </a:xfrm>
          <a:prstGeom prst="rect">
            <a:avLst/>
          </a:prstGeom>
          <a:solidFill>
            <a:srgbClr val="FFFFFF"/>
          </a:solidFill>
          <a:ln w="222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841248"/>
            <a:ext cx="1298448" cy="31089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99616" y="841248"/>
            <a:ext cx="2439847" cy="31089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9616" y="841248"/>
            <a:ext cx="2439847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1. Need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9463" y="841248"/>
            <a:ext cx="256032" cy="31089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5495" y="841248"/>
            <a:ext cx="2439847" cy="31089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95495" y="841248"/>
            <a:ext cx="2439847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2. Select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35343" y="841248"/>
            <a:ext cx="256032" cy="31089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91375" y="841248"/>
            <a:ext cx="2439847" cy="31089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91375" y="841248"/>
            <a:ext cx="2439847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3. Qualify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31223" y="841248"/>
            <a:ext cx="256032" cy="31089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87255" y="841248"/>
            <a:ext cx="2439847" cy="31089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87255" y="841248"/>
            <a:ext cx="2439847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4. QA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1152144"/>
            <a:ext cx="1298448" cy="1335024"/>
          </a:xfrm>
          <a:prstGeom prst="rect">
            <a:avLst/>
          </a:prstGeom>
          <a:solidFill>
            <a:srgbClr val="F4F6F8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" y="1152144"/>
            <a:ext cx="1298448" cy="1335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Customer (KE)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99616" y="1152144"/>
            <a:ext cx="2439847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39463" y="1152144"/>
            <a:ext cx="256032" cy="1335024"/>
          </a:xfrm>
          <a:prstGeom prst="rect">
            <a:avLst/>
          </a:prstGeom>
          <a:solidFill>
            <a:srgbClr val="D9DEE5"/>
          </a:solidFill>
          <a:ln w="7620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95495" y="1152144"/>
            <a:ext cx="2439847" cy="1335024"/>
          </a:xfrm>
          <a:prstGeom prst="rect">
            <a:avLst/>
          </a:prstGeom>
          <a:solidFill>
            <a:srgbClr val="EEF2F6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35343" y="1152144"/>
            <a:ext cx="256032" cy="1335024"/>
          </a:xfrm>
          <a:prstGeom prst="rect">
            <a:avLst/>
          </a:prstGeom>
          <a:solidFill>
            <a:srgbClr val="D9DEE5"/>
          </a:solidFill>
          <a:ln w="7620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91375" y="1152144"/>
            <a:ext cx="2439847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31223" y="1152144"/>
            <a:ext cx="256032" cy="1335024"/>
          </a:xfrm>
          <a:prstGeom prst="rect">
            <a:avLst/>
          </a:prstGeom>
          <a:solidFill>
            <a:srgbClr val="D9DEE5"/>
          </a:solidFill>
          <a:ln w="7620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87255" y="1152144"/>
            <a:ext cx="2439847" cy="1335024"/>
          </a:xfrm>
          <a:prstGeom prst="rect">
            <a:avLst/>
          </a:prstGeom>
          <a:solidFill>
            <a:srgbClr val="EEF2F6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1168" y="2487168"/>
            <a:ext cx="1298448" cy="1335024"/>
          </a:xfrm>
          <a:prstGeom prst="rect">
            <a:avLst/>
          </a:prstGeom>
          <a:solidFill>
            <a:srgbClr val="EEF2F6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" y="2487168"/>
            <a:ext cx="1298448" cy="1335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HX Account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99616" y="2487168"/>
            <a:ext cx="2439847" cy="1335024"/>
          </a:xfrm>
          <a:prstGeom prst="rect">
            <a:avLst/>
          </a:prstGeom>
          <a:solidFill>
            <a:srgbClr val="EEF2F6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39463" y="2487168"/>
            <a:ext cx="256032" cy="1335024"/>
          </a:xfrm>
          <a:prstGeom prst="rect">
            <a:avLst/>
          </a:prstGeom>
          <a:solidFill>
            <a:srgbClr val="D9DEE5"/>
          </a:solidFill>
          <a:ln w="7620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95495" y="2487168"/>
            <a:ext cx="2439847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35343" y="2487168"/>
            <a:ext cx="256032" cy="1335024"/>
          </a:xfrm>
          <a:prstGeom prst="rect">
            <a:avLst/>
          </a:prstGeom>
          <a:solidFill>
            <a:srgbClr val="D9DEE5"/>
          </a:solidFill>
          <a:ln w="7620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91375" y="2487168"/>
            <a:ext cx="2439847" cy="1335024"/>
          </a:xfrm>
          <a:prstGeom prst="rect">
            <a:avLst/>
          </a:prstGeom>
          <a:solidFill>
            <a:srgbClr val="EEF2F6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31223" y="2487168"/>
            <a:ext cx="256032" cy="1335024"/>
          </a:xfrm>
          <a:prstGeom prst="rect">
            <a:avLst/>
          </a:prstGeom>
          <a:solidFill>
            <a:srgbClr val="D9DEE5"/>
          </a:solidFill>
          <a:ln w="7620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87255" y="2487168"/>
            <a:ext cx="2439847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1168" y="3822192"/>
            <a:ext cx="1298448" cy="1335024"/>
          </a:xfrm>
          <a:prstGeom prst="rect">
            <a:avLst/>
          </a:prstGeom>
          <a:solidFill>
            <a:srgbClr val="F4F6F8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1168" y="3822192"/>
            <a:ext cx="1298448" cy="1335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HX LMOC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99616" y="3822192"/>
            <a:ext cx="2439847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39463" y="3822192"/>
            <a:ext cx="256032" cy="1335024"/>
          </a:xfrm>
          <a:prstGeom prst="rect">
            <a:avLst/>
          </a:prstGeom>
          <a:solidFill>
            <a:srgbClr val="D9DEE5"/>
          </a:solidFill>
          <a:ln w="7620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5495" y="3822192"/>
            <a:ext cx="2439847" cy="1335024"/>
          </a:xfrm>
          <a:prstGeom prst="rect">
            <a:avLst/>
          </a:prstGeom>
          <a:solidFill>
            <a:srgbClr val="EEF2F6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35343" y="3822192"/>
            <a:ext cx="256032" cy="1335024"/>
          </a:xfrm>
          <a:prstGeom prst="rect">
            <a:avLst/>
          </a:prstGeom>
          <a:solidFill>
            <a:srgbClr val="D9DEE5"/>
          </a:solidFill>
          <a:ln w="7620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91375" y="3822192"/>
            <a:ext cx="2439847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331223" y="3822192"/>
            <a:ext cx="256032" cy="1335024"/>
          </a:xfrm>
          <a:prstGeom prst="rect">
            <a:avLst/>
          </a:prstGeom>
          <a:solidFill>
            <a:srgbClr val="D9DEE5"/>
          </a:solidFill>
          <a:ln w="7620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87255" y="3822192"/>
            <a:ext cx="2439847" cy="1335024"/>
          </a:xfrm>
          <a:prstGeom prst="rect">
            <a:avLst/>
          </a:prstGeom>
          <a:solidFill>
            <a:srgbClr val="EEF2F6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01168" y="5157216"/>
            <a:ext cx="1298448" cy="1335024"/>
          </a:xfrm>
          <a:prstGeom prst="rect">
            <a:avLst/>
          </a:prstGeom>
          <a:solidFill>
            <a:srgbClr val="EEF2F6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1168" y="5157216"/>
            <a:ext cx="1298448" cy="1335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HX QA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99616" y="5157216"/>
            <a:ext cx="2439847" cy="1335024"/>
          </a:xfrm>
          <a:prstGeom prst="rect">
            <a:avLst/>
          </a:prstGeom>
          <a:solidFill>
            <a:srgbClr val="EEF2F6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939463" y="5157216"/>
            <a:ext cx="256032" cy="1335024"/>
          </a:xfrm>
          <a:prstGeom prst="rect">
            <a:avLst/>
          </a:prstGeom>
          <a:solidFill>
            <a:srgbClr val="D9DEE5"/>
          </a:solidFill>
          <a:ln w="7620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95495" y="5157216"/>
            <a:ext cx="2439847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635343" y="5157216"/>
            <a:ext cx="256032" cy="1335024"/>
          </a:xfrm>
          <a:prstGeom prst="rect">
            <a:avLst/>
          </a:prstGeom>
          <a:solidFill>
            <a:srgbClr val="D9DEE5"/>
          </a:solidFill>
          <a:ln w="7620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91375" y="5157216"/>
            <a:ext cx="2439847" cy="1335024"/>
          </a:xfrm>
          <a:prstGeom prst="rect">
            <a:avLst/>
          </a:prstGeom>
          <a:solidFill>
            <a:srgbClr val="EEF2F6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331223" y="5157216"/>
            <a:ext cx="256032" cy="1335024"/>
          </a:xfrm>
          <a:prstGeom prst="rect">
            <a:avLst/>
          </a:prstGeom>
          <a:solidFill>
            <a:srgbClr val="D9DEE5"/>
          </a:solidFill>
          <a:ln w="7620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587255" y="5157216"/>
            <a:ext cx="2439847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010879" y="1075883"/>
            <a:ext cx="1417320" cy="384048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E3A5F"/>
                </a:solidFill>
                <a:latin typeface="Calibri"/>
              </a:rPr>
              <a:t>Start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99616" y="1792955"/>
            <a:ext cx="2439847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11111"/>
                </a:solidFill>
                <a:latin typeface="Calibri"/>
              </a:rPr>
              <a:t>↓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645119" y="2370673"/>
            <a:ext cx="2148840" cy="841248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75623"/>
                </a:solidFill>
                <a:latin typeface="Calibri"/>
              </a:rPr>
              <a:t>STEP 1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Business Requirement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2F3B2A"/>
                </a:solidFill>
                <a:latin typeface="Calibri"/>
              </a:rPr>
              <a:t>HX Account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99616" y="3448385"/>
            <a:ext cx="2439847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11111"/>
                </a:solidFill>
                <a:latin typeface="Calibri"/>
              </a:rPr>
              <a:t>↓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645119" y="4069080"/>
            <a:ext cx="2148840" cy="841248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75623"/>
                </a:solidFill>
                <a:latin typeface="Calibri"/>
              </a:rPr>
              <a:t>STEP 2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Customer Requirements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2F3B2A"/>
                </a:solidFill>
                <a:latin typeface="Calibri"/>
              </a:rPr>
              <a:t>HX LMOC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39463" y="3822192"/>
            <a:ext cx="256032" cy="1335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11111"/>
                </a:solidFill>
                <a:latin typeface="Calibri"/>
              </a:rPr>
              <a:t>→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40999" y="3913632"/>
            <a:ext cx="2148840" cy="804672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75623"/>
                </a:solidFill>
                <a:latin typeface="Calibri"/>
              </a:rPr>
              <a:t>STEP 3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Candidate Selection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2F3B2A"/>
                </a:solidFill>
                <a:latin typeface="Calibri"/>
              </a:rPr>
              <a:t>HX LMOC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95495" y="4700016"/>
            <a:ext cx="2439847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11111"/>
                </a:solidFill>
                <a:latin typeface="Calibri"/>
              </a:rPr>
              <a:t>↓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40999" y="4882896"/>
            <a:ext cx="2148840" cy="804672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75623"/>
                </a:solidFill>
                <a:latin typeface="Calibri"/>
              </a:rPr>
              <a:t>STEP 4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Initial Customer Application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2F3B2A"/>
                </a:solidFill>
                <a:latin typeface="Calibri"/>
              </a:rPr>
              <a:t>HX LMOC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35343" y="3822192"/>
            <a:ext cx="256032" cy="1335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11111"/>
                </a:solidFill>
                <a:latin typeface="Calibri"/>
              </a:rPr>
              <a:t>→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004875" y="3895344"/>
            <a:ext cx="2212848" cy="932688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75623"/>
                </a:solidFill>
                <a:latin typeface="Calibri"/>
              </a:rPr>
              <a:t>STEP 5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Qualification Verification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2F3B2A"/>
                </a:solidFill>
                <a:latin typeface="Calibri"/>
              </a:rPr>
              <a:t>Experience / AML / A350 Type / HAECO Auth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2F3B2A"/>
                </a:solidFill>
                <a:latin typeface="Calibri"/>
              </a:rPr>
              <a:t>HX LMOC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91375" y="4809744"/>
            <a:ext cx="2439847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11111"/>
                </a:solidFill>
                <a:latin typeface="Calibri"/>
              </a:rPr>
              <a:t>↓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004875" y="4974336"/>
            <a:ext cx="2212848" cy="731520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75623"/>
                </a:solidFill>
                <a:latin typeface="Calibri"/>
              </a:rPr>
              <a:t>STEP 6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Supporting Document Submission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2F3B2A"/>
                </a:solidFill>
                <a:latin typeface="Calibri"/>
              </a:rPr>
              <a:t>HX LMOC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31223" y="3822192"/>
            <a:ext cx="256032" cy="1335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11111"/>
                </a:solidFill>
                <a:latin typeface="Calibri"/>
              </a:rPr>
              <a:t>→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87255" y="3822192"/>
            <a:ext cx="2439847" cy="1335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11111"/>
                </a:solidFill>
                <a:latin typeface="Calibri"/>
              </a:rPr>
              <a:t>↑</a:t>
            </a:r>
          </a:p>
        </p:txBody>
      </p:sp>
      <p:sp>
        <p:nvSpPr>
          <p:cNvPr id="70" name="Diamond 69"/>
          <p:cNvSpPr/>
          <p:nvPr/>
        </p:nvSpPr>
        <p:spPr>
          <a:xfrm>
            <a:off x="10157955" y="1188720"/>
            <a:ext cx="1298448" cy="1298448"/>
          </a:xfrm>
          <a:prstGeom prst="diamond">
            <a:avLst/>
          </a:prstGeom>
          <a:solidFill>
            <a:srgbClr val="FFFFFF"/>
          </a:solidFill>
          <a:ln w="222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E3A5F"/>
                </a:solidFill>
                <a:latin typeface="Calibri"/>
              </a:rPr>
              <a:t>STEP 7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KE QA accept?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60407" y="2432304"/>
            <a:ext cx="229354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Calibri"/>
              </a:rPr>
              <a:t>Yes → continue to training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444444"/>
                </a:solidFill>
                <a:latin typeface="Calibri"/>
              </a:rPr>
              <a:t>No → return package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6032" y="6528816"/>
            <a:ext cx="11704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Continues on next slide → Customer Training Plan     ·     Main path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09728"/>
            <a:ext cx="8595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>
                <a:solidFill>
                  <a:srgbClr val="1E3A5F"/>
                </a:solidFill>
                <a:latin typeface="Calibri"/>
              </a:rPr>
              <a:t>Authorization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457200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KE A350 — General Flow, steps 8 to 12 · Training to authorization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146304"/>
            <a:ext cx="3063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Presentation swimlane · 12-step version</a:t>
            </a:r>
          </a:p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444444"/>
                </a:solidFill>
                <a:latin typeface="Calibri"/>
              </a:rPr>
              <a:t>Slide 2 of 2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841248"/>
            <a:ext cx="11825935" cy="5650992"/>
          </a:xfrm>
          <a:prstGeom prst="rect">
            <a:avLst/>
          </a:prstGeom>
          <a:solidFill>
            <a:srgbClr val="FFFFFF"/>
          </a:solidFill>
          <a:ln w="222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841248"/>
            <a:ext cx="1298448" cy="31089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99616" y="841248"/>
            <a:ext cx="2439847" cy="31089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9616" y="841248"/>
            <a:ext cx="2439847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5. Training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9463" y="841248"/>
            <a:ext cx="256032" cy="31089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5495" y="841248"/>
            <a:ext cx="2439847" cy="31089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95495" y="841248"/>
            <a:ext cx="2439847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6. Training record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35343" y="841248"/>
            <a:ext cx="256032" cy="31089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91375" y="841248"/>
            <a:ext cx="2439847" cy="31089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91375" y="841248"/>
            <a:ext cx="2439847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7. Verify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31223" y="841248"/>
            <a:ext cx="256032" cy="31089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87255" y="841248"/>
            <a:ext cx="2439847" cy="31089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87255" y="841248"/>
            <a:ext cx="2439847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8. Authorize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1152144"/>
            <a:ext cx="1298448" cy="1335024"/>
          </a:xfrm>
          <a:prstGeom prst="rect">
            <a:avLst/>
          </a:prstGeom>
          <a:solidFill>
            <a:srgbClr val="F4F6F8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" y="1152144"/>
            <a:ext cx="1298448" cy="1335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Customer (KE)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99616" y="1152144"/>
            <a:ext cx="2439847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39463" y="1152144"/>
            <a:ext cx="256032" cy="1335024"/>
          </a:xfrm>
          <a:prstGeom prst="rect">
            <a:avLst/>
          </a:prstGeom>
          <a:solidFill>
            <a:srgbClr val="D9DEE5"/>
          </a:solidFill>
          <a:ln w="7620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95495" y="1152144"/>
            <a:ext cx="2439847" cy="1335024"/>
          </a:xfrm>
          <a:prstGeom prst="rect">
            <a:avLst/>
          </a:prstGeom>
          <a:solidFill>
            <a:srgbClr val="EEF2F6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35343" y="1152144"/>
            <a:ext cx="256032" cy="1335024"/>
          </a:xfrm>
          <a:prstGeom prst="rect">
            <a:avLst/>
          </a:prstGeom>
          <a:solidFill>
            <a:srgbClr val="D9DEE5"/>
          </a:solidFill>
          <a:ln w="7620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91375" y="1152144"/>
            <a:ext cx="2439847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31223" y="1152144"/>
            <a:ext cx="256032" cy="1335024"/>
          </a:xfrm>
          <a:prstGeom prst="rect">
            <a:avLst/>
          </a:prstGeom>
          <a:solidFill>
            <a:srgbClr val="D9DEE5"/>
          </a:solidFill>
          <a:ln w="7620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87255" y="1152144"/>
            <a:ext cx="2439847" cy="1335024"/>
          </a:xfrm>
          <a:prstGeom prst="rect">
            <a:avLst/>
          </a:prstGeom>
          <a:solidFill>
            <a:srgbClr val="EEF2F6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1168" y="2487168"/>
            <a:ext cx="1298448" cy="1335024"/>
          </a:xfrm>
          <a:prstGeom prst="rect">
            <a:avLst/>
          </a:prstGeom>
          <a:solidFill>
            <a:srgbClr val="EEF2F6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" y="2487168"/>
            <a:ext cx="1298448" cy="1335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HX Account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99616" y="2487168"/>
            <a:ext cx="2439847" cy="1335024"/>
          </a:xfrm>
          <a:prstGeom prst="rect">
            <a:avLst/>
          </a:prstGeom>
          <a:solidFill>
            <a:srgbClr val="EEF2F6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39463" y="2487168"/>
            <a:ext cx="256032" cy="1335024"/>
          </a:xfrm>
          <a:prstGeom prst="rect">
            <a:avLst/>
          </a:prstGeom>
          <a:solidFill>
            <a:srgbClr val="D9DEE5"/>
          </a:solidFill>
          <a:ln w="7620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95495" y="2487168"/>
            <a:ext cx="2439847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35343" y="2487168"/>
            <a:ext cx="256032" cy="1335024"/>
          </a:xfrm>
          <a:prstGeom prst="rect">
            <a:avLst/>
          </a:prstGeom>
          <a:solidFill>
            <a:srgbClr val="D9DEE5"/>
          </a:solidFill>
          <a:ln w="7620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91375" y="2487168"/>
            <a:ext cx="2439847" cy="1335024"/>
          </a:xfrm>
          <a:prstGeom prst="rect">
            <a:avLst/>
          </a:prstGeom>
          <a:solidFill>
            <a:srgbClr val="EEF2F6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31223" y="2487168"/>
            <a:ext cx="256032" cy="1335024"/>
          </a:xfrm>
          <a:prstGeom prst="rect">
            <a:avLst/>
          </a:prstGeom>
          <a:solidFill>
            <a:srgbClr val="D9DEE5"/>
          </a:solidFill>
          <a:ln w="7620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87255" y="2487168"/>
            <a:ext cx="2439847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1168" y="3822192"/>
            <a:ext cx="1298448" cy="1335024"/>
          </a:xfrm>
          <a:prstGeom prst="rect">
            <a:avLst/>
          </a:prstGeom>
          <a:solidFill>
            <a:srgbClr val="F4F6F8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1168" y="3822192"/>
            <a:ext cx="1298448" cy="1335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HX LMOC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99616" y="3822192"/>
            <a:ext cx="2439847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39463" y="3822192"/>
            <a:ext cx="256032" cy="1335024"/>
          </a:xfrm>
          <a:prstGeom prst="rect">
            <a:avLst/>
          </a:prstGeom>
          <a:solidFill>
            <a:srgbClr val="D9DEE5"/>
          </a:solidFill>
          <a:ln w="7620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5495" y="3822192"/>
            <a:ext cx="2439847" cy="1335024"/>
          </a:xfrm>
          <a:prstGeom prst="rect">
            <a:avLst/>
          </a:prstGeom>
          <a:solidFill>
            <a:srgbClr val="EEF2F6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35343" y="3822192"/>
            <a:ext cx="256032" cy="1335024"/>
          </a:xfrm>
          <a:prstGeom prst="rect">
            <a:avLst/>
          </a:prstGeom>
          <a:solidFill>
            <a:srgbClr val="D9DEE5"/>
          </a:solidFill>
          <a:ln w="7620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91375" y="3822192"/>
            <a:ext cx="2439847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331223" y="3822192"/>
            <a:ext cx="256032" cy="1335024"/>
          </a:xfrm>
          <a:prstGeom prst="rect">
            <a:avLst/>
          </a:prstGeom>
          <a:solidFill>
            <a:srgbClr val="D9DEE5"/>
          </a:solidFill>
          <a:ln w="7620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87255" y="3822192"/>
            <a:ext cx="2439847" cy="1335024"/>
          </a:xfrm>
          <a:prstGeom prst="rect">
            <a:avLst/>
          </a:prstGeom>
          <a:solidFill>
            <a:srgbClr val="EEF2F6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01168" y="5157216"/>
            <a:ext cx="1298448" cy="1335024"/>
          </a:xfrm>
          <a:prstGeom prst="rect">
            <a:avLst/>
          </a:prstGeom>
          <a:solidFill>
            <a:srgbClr val="EEF2F6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1168" y="5157216"/>
            <a:ext cx="1298448" cy="1335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HX QA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99616" y="5157216"/>
            <a:ext cx="2439847" cy="1335024"/>
          </a:xfrm>
          <a:prstGeom prst="rect">
            <a:avLst/>
          </a:prstGeom>
          <a:solidFill>
            <a:srgbClr val="EEF2F6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939463" y="5157216"/>
            <a:ext cx="256032" cy="1335024"/>
          </a:xfrm>
          <a:prstGeom prst="rect">
            <a:avLst/>
          </a:prstGeom>
          <a:solidFill>
            <a:srgbClr val="D9DEE5"/>
          </a:solidFill>
          <a:ln w="7620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95495" y="5157216"/>
            <a:ext cx="2439847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635343" y="5157216"/>
            <a:ext cx="256032" cy="1335024"/>
          </a:xfrm>
          <a:prstGeom prst="rect">
            <a:avLst/>
          </a:prstGeom>
          <a:solidFill>
            <a:srgbClr val="D9DEE5"/>
          </a:solidFill>
          <a:ln w="7620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91375" y="5157216"/>
            <a:ext cx="2439847" cy="1335024"/>
          </a:xfrm>
          <a:prstGeom prst="rect">
            <a:avLst/>
          </a:prstGeom>
          <a:solidFill>
            <a:srgbClr val="EEF2F6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331223" y="5157216"/>
            <a:ext cx="256032" cy="1335024"/>
          </a:xfrm>
          <a:prstGeom prst="rect">
            <a:avLst/>
          </a:prstGeom>
          <a:solidFill>
            <a:srgbClr val="D9DEE5"/>
          </a:solidFill>
          <a:ln w="7620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587255" y="5157216"/>
            <a:ext cx="2439847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B7B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645119" y="1035649"/>
            <a:ext cx="2148840" cy="841248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75623"/>
                </a:solidFill>
                <a:latin typeface="Calibri"/>
              </a:rPr>
              <a:t>STEP 8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Customer Training Plan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2F3B2A"/>
                </a:solidFill>
                <a:latin typeface="Calibri"/>
              </a:rPr>
              <a:t>Customer (KE)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99616" y="2086660"/>
            <a:ext cx="2439847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11111"/>
                </a:solidFill>
                <a:latin typeface="Calibri"/>
              </a:rPr>
              <a:t>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99616" y="3822192"/>
            <a:ext cx="2439847" cy="1335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11111"/>
                </a:solidFill>
                <a:latin typeface="Calibri"/>
              </a:rPr>
              <a:t>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39463" y="3822192"/>
            <a:ext cx="256032" cy="1335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11111"/>
                </a:solidFill>
                <a:latin typeface="Calibri"/>
              </a:rPr>
              <a:t>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18139" y="4041648"/>
            <a:ext cx="2194560" cy="896112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75623"/>
                </a:solidFill>
                <a:latin typeface="Calibri"/>
              </a:rPr>
              <a:t>STEP 9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Training Record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2F3B2A"/>
                </a:solidFill>
                <a:latin typeface="Calibri"/>
              </a:rPr>
              <a:t>MOD 1 / MOD 2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2F3B2A"/>
                </a:solidFill>
                <a:latin typeface="Calibri"/>
              </a:rPr>
              <a:t>HX LMOC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35343" y="3822192"/>
            <a:ext cx="256032" cy="1335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11111"/>
                </a:solidFill>
                <a:latin typeface="Calibri"/>
              </a:rP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91375" y="3822192"/>
            <a:ext cx="2439847" cy="1335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11111"/>
                </a:solidFill>
                <a:latin typeface="Calibri"/>
              </a:rPr>
              <a:t>↑</a:t>
            </a:r>
          </a:p>
        </p:txBody>
      </p:sp>
      <p:sp>
        <p:nvSpPr>
          <p:cNvPr id="62" name="Diamond 61"/>
          <p:cNvSpPr/>
          <p:nvPr/>
        </p:nvSpPr>
        <p:spPr>
          <a:xfrm>
            <a:off x="7462075" y="1188720"/>
            <a:ext cx="1298448" cy="1298448"/>
          </a:xfrm>
          <a:prstGeom prst="diamond">
            <a:avLst/>
          </a:prstGeom>
          <a:solidFill>
            <a:srgbClr val="FFFFFF"/>
          </a:solidFill>
          <a:ln w="222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E3A5F"/>
                </a:solidFill>
                <a:latin typeface="Calibri"/>
              </a:rPr>
              <a:t>STEP 10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Training verified?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64527" y="2432304"/>
            <a:ext cx="229354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Calibri"/>
              </a:rPr>
              <a:t>Yes → issue roster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444444"/>
                </a:solidFill>
                <a:latin typeface="Calibri"/>
              </a:rPr>
              <a:t>No → return record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31223" y="1152144"/>
            <a:ext cx="256032" cy="1335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11111"/>
                </a:solidFill>
                <a:latin typeface="Calibri"/>
              </a:rPr>
              <a:t>→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732759" y="1045524"/>
            <a:ext cx="2148840" cy="804672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75623"/>
                </a:solidFill>
                <a:latin typeface="Calibri"/>
              </a:rPr>
              <a:t>STEP 11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Customer CS Roster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2F3B2A"/>
                </a:solidFill>
                <a:latin typeface="Calibri"/>
              </a:rPr>
              <a:t>Customer (KE)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87255" y="2059960"/>
            <a:ext cx="2439847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11111"/>
                </a:solidFill>
                <a:latin typeface="Calibri"/>
              </a:rPr>
              <a:t>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87255" y="2487168"/>
            <a:ext cx="2439847" cy="1335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11111"/>
                </a:solidFill>
                <a:latin typeface="Calibri"/>
              </a:rPr>
              <a:t>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87255" y="3822192"/>
            <a:ext cx="2439847" cy="1335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11111"/>
                </a:solidFill>
                <a:latin typeface="Calibri"/>
              </a:rPr>
              <a:t>↓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700755" y="5248656"/>
            <a:ext cx="2212848" cy="804672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75623"/>
                </a:solidFill>
                <a:latin typeface="Calibri"/>
              </a:rPr>
              <a:t>STEP 12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Customer Authorization Effective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2F3B2A"/>
                </a:solidFill>
                <a:latin typeface="Calibri"/>
              </a:rPr>
              <a:t>HX QA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144239" y="6144768"/>
            <a:ext cx="1325880" cy="347472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E3A5F"/>
                </a:solidFill>
                <a:latin typeface="Calibri"/>
              </a:rPr>
              <a:t>End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56032" y="6528816"/>
            <a:ext cx="11704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← From previous slide · Customer QA Review (Yes)     ·     Main path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